
<file path=[Content_Types].xml><?xml version="1.0" encoding="utf-8"?>
<Types xmlns="http://schemas.openxmlformats.org/package/2006/content-types">
  <Default Extension="jfif" ContentType="image/jpeg"/>
  <Default Extension="png" ContentType="image/png"/>
  <Default Extension="tm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8" r:id="rId15"/>
    <p:sldId id="351" r:id="rId16"/>
    <p:sldId id="350" r:id="rId17"/>
    <p:sldId id="352" r:id="rId18"/>
    <p:sldId id="347"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7" d="100"/>
          <a:sy n="77" d="100"/>
        </p:scale>
        <p:origin x="768"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tmp"/><Relationship Id="rId4" Type="http://schemas.openxmlformats.org/officeDocument/2006/relationships/image" Target="../media/image7.tm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ansi-analytics/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2090937" y="3521161"/>
            <a:ext cx="5396736" cy="861497"/>
          </a:xfrm>
        </p:spPr>
        <p:txBody>
          <a:bodyPr vert="horz" lIns="91440" tIns="45720" rIns="91440" bIns="45720" rtlCol="0" anchor="t">
            <a:normAutofit/>
          </a:bodyPr>
          <a:lstStyle/>
          <a:p>
            <a:pPr algn="r"/>
            <a:r>
              <a:rPr lang="en-US" b="0" dirty="0">
                <a:solidFill>
                  <a:schemeClr val="tx1"/>
                </a:solidFill>
              </a:rPr>
              <a:t>[Student </a:t>
            </a:r>
            <a:r>
              <a:rPr lang="en-US" b="0" dirty="0" smtClean="0">
                <a:solidFill>
                  <a:schemeClr val="tx1"/>
                </a:solidFill>
              </a:rPr>
              <a:t>Name-</a:t>
            </a:r>
            <a:r>
              <a:rPr lang="en-US" b="0" dirty="0" err="1" smtClean="0">
                <a:solidFill>
                  <a:schemeClr val="tx1"/>
                </a:solidFill>
              </a:rPr>
              <a:t>Mansi</a:t>
            </a:r>
            <a:r>
              <a:rPr lang="en-US" b="0" dirty="0" smtClean="0">
                <a:solidFill>
                  <a:schemeClr val="tx1"/>
                </a:solidFill>
              </a:rPr>
              <a:t>     </a:t>
            </a:r>
            <a:endParaRPr lang="en-IN" b="0" dirty="0">
              <a:solidFill>
                <a:schemeClr val="tx1"/>
              </a:solidFill>
            </a:endParaRPr>
          </a:p>
          <a:p>
            <a:pPr algn="r"/>
            <a:r>
              <a:rPr lang="en-US" b="0" dirty="0" smtClean="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8363" y="2844750"/>
            <a:ext cx="9830973" cy="743448"/>
          </a:xfrm>
        </p:spPr>
        <p:txBody>
          <a:bodyPr>
            <a:normAutofit fontScale="90000"/>
          </a:bodyPr>
          <a:lstStyle/>
          <a:p>
            <a:r>
              <a:rPr lang="en-GB" sz="3200" dirty="0"/>
              <a:t>Project Title </a:t>
            </a:r>
            <a:r>
              <a:rPr lang="en-GB" sz="3200" dirty="0" smtClean="0"/>
              <a:t>– Seasonal Agricultural Performance Analysis </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673119" y="4448163"/>
            <a:ext cx="5453444" cy="369332"/>
          </a:xfrm>
          <a:prstGeom prst="rect">
            <a:avLst/>
          </a:prstGeom>
          <a:noFill/>
        </p:spPr>
        <p:txBody>
          <a:bodyPr wrap="square" rtlCol="0">
            <a:spAutoFit/>
          </a:bodyPr>
          <a:lstStyle/>
          <a:p>
            <a:r>
              <a:rPr lang="en-US" b="1" dirty="0"/>
              <a:t>AICTE STU ID </a:t>
            </a:r>
            <a:r>
              <a:rPr lang="en-US" b="1" dirty="0" smtClean="0"/>
              <a:t>:</a:t>
            </a:r>
            <a:r>
              <a:rPr lang="en-IN" b="1" dirty="0"/>
              <a:t>STU6a6c2e9a09a651785474714</a:t>
            </a:r>
            <a:endParaRPr lang="en-US" b="1" dirty="0"/>
          </a:p>
        </p:txBody>
      </p:sp>
      <p:sp>
        <p:nvSpPr>
          <p:cNvPr id="5" name="TextBox 4"/>
          <p:cNvSpPr txBox="1"/>
          <p:nvPr/>
        </p:nvSpPr>
        <p:spPr>
          <a:xfrm>
            <a:off x="673119" y="3912088"/>
            <a:ext cx="3744936" cy="646331"/>
          </a:xfrm>
          <a:prstGeom prst="rect">
            <a:avLst/>
          </a:prstGeom>
          <a:noFill/>
        </p:spPr>
        <p:txBody>
          <a:bodyPr wrap="none" rtlCol="0">
            <a:spAutoFit/>
          </a:bodyPr>
          <a:lstStyle/>
          <a:p>
            <a:r>
              <a:rPr lang="en-US" dirty="0"/>
              <a:t>College Name-</a:t>
            </a:r>
            <a:r>
              <a:rPr lang="en-US" dirty="0" err="1"/>
              <a:t>Manipal</a:t>
            </a:r>
            <a:r>
              <a:rPr lang="en-US" dirty="0"/>
              <a:t> University ]</a:t>
            </a:r>
            <a:endParaRPr lang="en-IN" dirty="0"/>
          </a:p>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754602" y="1479884"/>
            <a:ext cx="6995604" cy="4230333"/>
          </a:xfrm>
        </p:spPr>
        <p:txBody>
          <a:bodyPr vert="horz" lIns="91440" tIns="45720" rIns="91440" bIns="45720" rtlCol="0" anchor="t">
            <a:normAutofit fontScale="77500" lnSpcReduction="20000"/>
          </a:bodyPr>
          <a:lstStyle/>
          <a:p>
            <a:r>
              <a:rPr lang="en-IN" sz="2800" dirty="0" smtClean="0"/>
              <a:t>(</a:t>
            </a:r>
            <a:r>
              <a:rPr lang="en-US" sz="2800" dirty="0"/>
              <a:t>Agricultural activities are influenced by seasonal variations in environmental </a:t>
            </a:r>
            <a:r>
              <a:rPr lang="en-US" sz="2800" dirty="0" smtClean="0"/>
              <a:t>conditions, farming </a:t>
            </a:r>
            <a:r>
              <a:rPr lang="en-US" sz="2800" dirty="0"/>
              <a:t>practices, resource availability and market conditions. As a result, </a:t>
            </a:r>
            <a:r>
              <a:rPr lang="en-US" sz="2800" dirty="0" smtClean="0"/>
              <a:t>agricultural performance </a:t>
            </a:r>
            <a:r>
              <a:rPr lang="en-US" sz="2800" dirty="0"/>
              <a:t>may differ from one season to another.</a:t>
            </a:r>
          </a:p>
          <a:p>
            <a:r>
              <a:rPr lang="en-US" sz="2800" dirty="0"/>
              <a:t>However, raw agricultural data does not clearly explain how agricultural performance </a:t>
            </a:r>
            <a:r>
              <a:rPr lang="en-US" sz="2800" dirty="0" smtClean="0"/>
              <a:t>changes across </a:t>
            </a:r>
            <a:r>
              <a:rPr lang="en-US" sz="2800" dirty="0"/>
              <a:t>seasons or what patterns can be observed in different seasonal conditions.</a:t>
            </a:r>
          </a:p>
          <a:p>
            <a:r>
              <a:rPr lang="en-US" sz="2800" dirty="0"/>
              <a:t>The problem is to analyze the given agricultural dataset and investigate seasonal </a:t>
            </a:r>
            <a:r>
              <a:rPr lang="en-US" sz="2800" dirty="0" smtClean="0"/>
              <a:t>differences in </a:t>
            </a:r>
            <a:r>
              <a:rPr lang="en-US" sz="2800" dirty="0"/>
              <a:t>agricultural performance by identifying meaningful patterns, trends, relationships </a:t>
            </a:r>
            <a:r>
              <a:rPr lang="en-US" sz="2800" dirty="0" smtClean="0"/>
              <a:t>and variations </a:t>
            </a:r>
            <a:r>
              <a:rPr lang="en-US" sz="2800" dirty="0"/>
              <a:t>within the available data.</a:t>
            </a: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75957" y="420203"/>
            <a:ext cx="6276109" cy="830997"/>
          </a:xfrm>
        </p:spPr>
        <p:txBody>
          <a:bodyPr>
            <a:normAutofit fontScale="90000"/>
          </a:bodyPr>
          <a:lstStyle/>
          <a:p>
            <a:r>
              <a:rPr lang="en-GB" dirty="0"/>
              <a:t>Project Description</a:t>
            </a:r>
            <a:br>
              <a:rPr lang="en-GB" dirty="0"/>
            </a:br>
            <a:r>
              <a:rPr lang="en-US" sz="1800" b="0" dirty="0" smtClean="0"/>
              <a:t>.</a:t>
            </a:r>
            <a:r>
              <a:rPr lang="en-US" dirty="0"/>
              <a:t/>
            </a:r>
            <a:br>
              <a:rPr lang="en-US" dirty="0"/>
            </a:br>
            <a:r>
              <a:rPr lang="en-GB" dirty="0" smtClean="0"/>
              <a:t> </a:t>
            </a: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p:cNvSpPr txBox="1"/>
          <p:nvPr/>
        </p:nvSpPr>
        <p:spPr>
          <a:xfrm>
            <a:off x="675957" y="1251200"/>
            <a:ext cx="5833127" cy="4462760"/>
          </a:xfrm>
          <a:custGeom>
            <a:avLst/>
            <a:gdLst>
              <a:gd name="connsiteX0" fmla="*/ 0 w 17065597"/>
              <a:gd name="connsiteY0" fmla="*/ 0 h 369332"/>
              <a:gd name="connsiteX1" fmla="*/ 17065597 w 17065597"/>
              <a:gd name="connsiteY1" fmla="*/ 0 h 369332"/>
              <a:gd name="connsiteX2" fmla="*/ 17065597 w 17065597"/>
              <a:gd name="connsiteY2" fmla="*/ 369332 h 369332"/>
              <a:gd name="connsiteX3" fmla="*/ 0 w 17065597"/>
              <a:gd name="connsiteY3" fmla="*/ 369332 h 369332"/>
              <a:gd name="connsiteX4" fmla="*/ 0 w 17065597"/>
              <a:gd name="connsiteY4" fmla="*/ 0 h 369332"/>
              <a:gd name="connsiteX0" fmla="*/ 0 w 17065597"/>
              <a:gd name="connsiteY0" fmla="*/ 0 h 3638625"/>
              <a:gd name="connsiteX1" fmla="*/ 17065597 w 17065597"/>
              <a:gd name="connsiteY1" fmla="*/ 0 h 3638625"/>
              <a:gd name="connsiteX2" fmla="*/ 17065597 w 17065597"/>
              <a:gd name="connsiteY2" fmla="*/ 369332 h 3638625"/>
              <a:gd name="connsiteX3" fmla="*/ 0 w 17065597"/>
              <a:gd name="connsiteY3" fmla="*/ 3638625 h 3638625"/>
              <a:gd name="connsiteX4" fmla="*/ 0 w 17065597"/>
              <a:gd name="connsiteY4" fmla="*/ 0 h 3638625"/>
              <a:gd name="connsiteX0" fmla="*/ 0 w 17065597"/>
              <a:gd name="connsiteY0" fmla="*/ 0 h 3638625"/>
              <a:gd name="connsiteX1" fmla="*/ 17065597 w 17065597"/>
              <a:gd name="connsiteY1" fmla="*/ 0 h 3638625"/>
              <a:gd name="connsiteX2" fmla="*/ 17065597 w 17065597"/>
              <a:gd name="connsiteY2" fmla="*/ 369332 h 3638625"/>
              <a:gd name="connsiteX3" fmla="*/ 0 w 17065597"/>
              <a:gd name="connsiteY3" fmla="*/ 3638625 h 3638625"/>
              <a:gd name="connsiteX4" fmla="*/ 0 w 17065597"/>
              <a:gd name="connsiteY4" fmla="*/ 0 h 3638625"/>
              <a:gd name="connsiteX0" fmla="*/ 0 w 17065597"/>
              <a:gd name="connsiteY0" fmla="*/ 0 h 3638625"/>
              <a:gd name="connsiteX1" fmla="*/ 17065597 w 17065597"/>
              <a:gd name="connsiteY1" fmla="*/ 0 h 3638625"/>
              <a:gd name="connsiteX2" fmla="*/ 17065597 w 17065597"/>
              <a:gd name="connsiteY2" fmla="*/ 369332 h 3638625"/>
              <a:gd name="connsiteX3" fmla="*/ 0 w 17065597"/>
              <a:gd name="connsiteY3" fmla="*/ 3638625 h 3638625"/>
              <a:gd name="connsiteX4" fmla="*/ 0 w 17065597"/>
              <a:gd name="connsiteY4" fmla="*/ 0 h 3638625"/>
              <a:gd name="connsiteX0" fmla="*/ 0 w 17065597"/>
              <a:gd name="connsiteY0" fmla="*/ 0 h 3638678"/>
              <a:gd name="connsiteX1" fmla="*/ 17065597 w 17065597"/>
              <a:gd name="connsiteY1" fmla="*/ 0 h 3638678"/>
              <a:gd name="connsiteX2" fmla="*/ 17065597 w 17065597"/>
              <a:gd name="connsiteY2" fmla="*/ 369332 h 3638678"/>
              <a:gd name="connsiteX3" fmla="*/ 0 w 17065597"/>
              <a:gd name="connsiteY3" fmla="*/ 3638625 h 3638678"/>
              <a:gd name="connsiteX4" fmla="*/ 0 w 17065597"/>
              <a:gd name="connsiteY4" fmla="*/ 0 h 3638678"/>
              <a:gd name="connsiteX0" fmla="*/ 0 w 17065597"/>
              <a:gd name="connsiteY0" fmla="*/ 0 h 3638678"/>
              <a:gd name="connsiteX1" fmla="*/ 12430966 w 17065597"/>
              <a:gd name="connsiteY1" fmla="*/ 25052 h 3638678"/>
              <a:gd name="connsiteX2" fmla="*/ 17065597 w 17065597"/>
              <a:gd name="connsiteY2" fmla="*/ 369332 h 3638678"/>
              <a:gd name="connsiteX3" fmla="*/ 0 w 17065597"/>
              <a:gd name="connsiteY3" fmla="*/ 3638625 h 3638678"/>
              <a:gd name="connsiteX4" fmla="*/ 0 w 17065597"/>
              <a:gd name="connsiteY4" fmla="*/ 0 h 3638678"/>
              <a:gd name="connsiteX0" fmla="*/ 0 w 17065597"/>
              <a:gd name="connsiteY0" fmla="*/ 0 h 3638678"/>
              <a:gd name="connsiteX1" fmla="*/ 10326593 w 17065597"/>
              <a:gd name="connsiteY1" fmla="*/ 175364 h 3638678"/>
              <a:gd name="connsiteX2" fmla="*/ 17065597 w 17065597"/>
              <a:gd name="connsiteY2" fmla="*/ 369332 h 3638678"/>
              <a:gd name="connsiteX3" fmla="*/ 0 w 17065597"/>
              <a:gd name="connsiteY3" fmla="*/ 3638625 h 3638678"/>
              <a:gd name="connsiteX4" fmla="*/ 0 w 17065597"/>
              <a:gd name="connsiteY4" fmla="*/ 0 h 3638678"/>
              <a:gd name="connsiteX0" fmla="*/ 0 w 17065597"/>
              <a:gd name="connsiteY0" fmla="*/ 0 h 3638678"/>
              <a:gd name="connsiteX1" fmla="*/ 7833914 w 17065597"/>
              <a:gd name="connsiteY1" fmla="*/ 225468 h 3638678"/>
              <a:gd name="connsiteX2" fmla="*/ 17065597 w 17065597"/>
              <a:gd name="connsiteY2" fmla="*/ 369332 h 3638678"/>
              <a:gd name="connsiteX3" fmla="*/ 0 w 17065597"/>
              <a:gd name="connsiteY3" fmla="*/ 3638625 h 3638678"/>
              <a:gd name="connsiteX4" fmla="*/ 0 w 17065597"/>
              <a:gd name="connsiteY4" fmla="*/ 0 h 3638678"/>
              <a:gd name="connsiteX0" fmla="*/ 0 w 7833914"/>
              <a:gd name="connsiteY0" fmla="*/ 0 h 4565161"/>
              <a:gd name="connsiteX1" fmla="*/ 7833914 w 7833914"/>
              <a:gd name="connsiteY1" fmla="*/ 225468 h 4565161"/>
              <a:gd name="connsiteX2" fmla="*/ 4213892 w 7833914"/>
              <a:gd name="connsiteY2" fmla="*/ 4189771 h 4565161"/>
              <a:gd name="connsiteX3" fmla="*/ 0 w 7833914"/>
              <a:gd name="connsiteY3" fmla="*/ 3638625 h 4565161"/>
              <a:gd name="connsiteX4" fmla="*/ 0 w 7833914"/>
              <a:gd name="connsiteY4" fmla="*/ 0 h 4565161"/>
              <a:gd name="connsiteX0" fmla="*/ 0 w 5860735"/>
              <a:gd name="connsiteY0" fmla="*/ 0 h 4565161"/>
              <a:gd name="connsiteX1" fmla="*/ 5860735 w 5860735"/>
              <a:gd name="connsiteY1" fmla="*/ 20931 h 4565161"/>
              <a:gd name="connsiteX2" fmla="*/ 4213892 w 5860735"/>
              <a:gd name="connsiteY2" fmla="*/ 4189771 h 4565161"/>
              <a:gd name="connsiteX3" fmla="*/ 0 w 5860735"/>
              <a:gd name="connsiteY3" fmla="*/ 3638625 h 4565161"/>
              <a:gd name="connsiteX4" fmla="*/ 0 w 5860735"/>
              <a:gd name="connsiteY4" fmla="*/ 0 h 4565161"/>
              <a:gd name="connsiteX0" fmla="*/ 0 w 5271187"/>
              <a:gd name="connsiteY0" fmla="*/ 27195 h 4592356"/>
              <a:gd name="connsiteX1" fmla="*/ 5271187 w 5271187"/>
              <a:gd name="connsiteY1" fmla="*/ 0 h 4592356"/>
              <a:gd name="connsiteX2" fmla="*/ 4213892 w 5271187"/>
              <a:gd name="connsiteY2" fmla="*/ 4216966 h 4592356"/>
              <a:gd name="connsiteX3" fmla="*/ 0 w 5271187"/>
              <a:gd name="connsiteY3" fmla="*/ 3665820 h 4592356"/>
              <a:gd name="connsiteX4" fmla="*/ 0 w 5271187"/>
              <a:gd name="connsiteY4" fmla="*/ 27195 h 4592356"/>
              <a:gd name="connsiteX0" fmla="*/ 0 w 5271187"/>
              <a:gd name="connsiteY0" fmla="*/ 27195 h 4551929"/>
              <a:gd name="connsiteX1" fmla="*/ 5271187 w 5271187"/>
              <a:gd name="connsiteY1" fmla="*/ 0 h 4551929"/>
              <a:gd name="connsiteX2" fmla="*/ 5224544 w 5271187"/>
              <a:gd name="connsiteY2" fmla="*/ 4168840 h 4551929"/>
              <a:gd name="connsiteX3" fmla="*/ 0 w 5271187"/>
              <a:gd name="connsiteY3" fmla="*/ 3665820 h 4551929"/>
              <a:gd name="connsiteX4" fmla="*/ 0 w 5271187"/>
              <a:gd name="connsiteY4" fmla="*/ 27195 h 4551929"/>
              <a:gd name="connsiteX0" fmla="*/ 0 w 5271187"/>
              <a:gd name="connsiteY0" fmla="*/ 27195 h 4168840"/>
              <a:gd name="connsiteX1" fmla="*/ 5271187 w 5271187"/>
              <a:gd name="connsiteY1" fmla="*/ 0 h 4168840"/>
              <a:gd name="connsiteX2" fmla="*/ 5224544 w 5271187"/>
              <a:gd name="connsiteY2" fmla="*/ 4168840 h 4168840"/>
              <a:gd name="connsiteX3" fmla="*/ 0 w 5271187"/>
              <a:gd name="connsiteY3" fmla="*/ 3665820 h 4168840"/>
              <a:gd name="connsiteX4" fmla="*/ 0 w 5271187"/>
              <a:gd name="connsiteY4" fmla="*/ 27195 h 4168840"/>
              <a:gd name="connsiteX0" fmla="*/ 0 w 5271187"/>
              <a:gd name="connsiteY0" fmla="*/ 27195 h 4168840"/>
              <a:gd name="connsiteX1" fmla="*/ 5271187 w 5271187"/>
              <a:gd name="connsiteY1" fmla="*/ 0 h 4168840"/>
              <a:gd name="connsiteX2" fmla="*/ 5224544 w 5271187"/>
              <a:gd name="connsiteY2" fmla="*/ 4168840 h 4168840"/>
              <a:gd name="connsiteX3" fmla="*/ 0 w 5271187"/>
              <a:gd name="connsiteY3" fmla="*/ 3665820 h 4168840"/>
              <a:gd name="connsiteX4" fmla="*/ 0 w 5271187"/>
              <a:gd name="connsiteY4" fmla="*/ 27195 h 4168840"/>
              <a:gd name="connsiteX0" fmla="*/ 0 w 5271187"/>
              <a:gd name="connsiteY0" fmla="*/ 27195 h 4168840"/>
              <a:gd name="connsiteX1" fmla="*/ 5271187 w 5271187"/>
              <a:gd name="connsiteY1" fmla="*/ 0 h 4168840"/>
              <a:gd name="connsiteX2" fmla="*/ 5224544 w 5271187"/>
              <a:gd name="connsiteY2" fmla="*/ 4168840 h 4168840"/>
              <a:gd name="connsiteX3" fmla="*/ 0 w 5271187"/>
              <a:gd name="connsiteY3" fmla="*/ 3665820 h 4168840"/>
              <a:gd name="connsiteX4" fmla="*/ 0 w 5271187"/>
              <a:gd name="connsiteY4" fmla="*/ 27195 h 4168840"/>
              <a:gd name="connsiteX0" fmla="*/ 36094 w 5307281"/>
              <a:gd name="connsiteY0" fmla="*/ 27195 h 4168840"/>
              <a:gd name="connsiteX1" fmla="*/ 5307281 w 5307281"/>
              <a:gd name="connsiteY1" fmla="*/ 0 h 4168840"/>
              <a:gd name="connsiteX2" fmla="*/ 5260638 w 5307281"/>
              <a:gd name="connsiteY2" fmla="*/ 4168840 h 4168840"/>
              <a:gd name="connsiteX3" fmla="*/ 0 w 5307281"/>
              <a:gd name="connsiteY3" fmla="*/ 4159114 h 4168840"/>
              <a:gd name="connsiteX4" fmla="*/ 36094 w 5307281"/>
              <a:gd name="connsiteY4" fmla="*/ 27195 h 4168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7281" h="4168840">
                <a:moveTo>
                  <a:pt x="36094" y="27195"/>
                </a:moveTo>
                <a:lnTo>
                  <a:pt x="5307281" y="0"/>
                </a:lnTo>
                <a:lnTo>
                  <a:pt x="5260638" y="4168840"/>
                </a:lnTo>
                <a:cubicBezTo>
                  <a:pt x="2110769" y="4115604"/>
                  <a:pt x="5926528" y="4171641"/>
                  <a:pt x="0" y="4159114"/>
                </a:cubicBezTo>
                <a:lnTo>
                  <a:pt x="36094" y="27195"/>
                </a:lnTo>
                <a:close/>
              </a:path>
            </a:pathLst>
          </a:custGeom>
          <a:noFill/>
        </p:spPr>
        <p:txBody>
          <a:bodyPr wrap="square" rtlCol="0">
            <a:spAutoFit/>
          </a:bodyPr>
          <a:lstStyle/>
          <a:p>
            <a:pPr marL="285750" indent="-285750">
              <a:buFont typeface="Wingdings" panose="05000000000000000000" pitchFamily="2" charset="2"/>
              <a:buChar char="q"/>
            </a:pPr>
            <a:r>
              <a:rPr lang="en-US" sz="1400" b="1" dirty="0"/>
              <a:t>Seasonal Agriculture Performance Analysis</a:t>
            </a:r>
            <a:r>
              <a:rPr lang="en-US" sz="1400" dirty="0"/>
              <a:t> is a data analytics project focused on understanding how agricultural performance varies across the </a:t>
            </a:r>
            <a:r>
              <a:rPr lang="en-US" sz="1400" b="1" dirty="0" err="1"/>
              <a:t>Kharif</a:t>
            </a:r>
            <a:r>
              <a:rPr lang="en-US" sz="1400" b="1" dirty="0"/>
              <a:t>, Rabi, and Zaid seasons</a:t>
            </a:r>
            <a:r>
              <a:rPr lang="en-US" sz="1400" dirty="0"/>
              <a:t>. The project uses agricultural data covering factors such as crop type, geographical location, rainfall, temperature, soil conditions, fertilizer and pesticide usage, irrigation methods, crop yield, production, water usage, and economic performance</a:t>
            </a:r>
            <a:r>
              <a:rPr lang="en-US" sz="1400" dirty="0" smtClean="0"/>
              <a:t>.</a:t>
            </a:r>
          </a:p>
          <a:p>
            <a:pPr marL="285750" indent="-285750">
              <a:buFont typeface="Wingdings" panose="05000000000000000000" pitchFamily="2" charset="2"/>
              <a:buChar char="q"/>
            </a:pPr>
            <a:endParaRPr lang="en-US" sz="1400" dirty="0"/>
          </a:p>
          <a:p>
            <a:pPr marL="285750" indent="-285750">
              <a:buFont typeface="Wingdings" panose="05000000000000000000" pitchFamily="2" charset="2"/>
              <a:buChar char="q"/>
            </a:pPr>
            <a:r>
              <a:rPr lang="en-US" sz="1400" dirty="0"/>
              <a:t>The project involves </a:t>
            </a:r>
            <a:r>
              <a:rPr lang="en-US" sz="1400" b="1" dirty="0"/>
              <a:t>data exploration, data cleaning, statistical analysis, and data visualization</a:t>
            </a:r>
            <a:r>
              <a:rPr lang="en-US" sz="1400" dirty="0"/>
              <a:t> to identify meaningful seasonal patterns, trends, relationships, and variations. The analysis compares agricultural yield, production, profitability, and water-use efficiency across seasons and examines the relationship between environmental factors and crop performance</a:t>
            </a:r>
            <a:r>
              <a:rPr lang="en-US" sz="1400" dirty="0" smtClean="0"/>
              <a:t>.</a:t>
            </a:r>
          </a:p>
          <a:p>
            <a:endParaRPr lang="en-US" sz="1400" dirty="0"/>
          </a:p>
          <a:p>
            <a:pPr marL="285750" indent="-285750">
              <a:buFont typeface="Wingdings" panose="05000000000000000000" pitchFamily="2" charset="2"/>
              <a:buChar char="q"/>
            </a:pPr>
            <a:r>
              <a:rPr lang="en-US" sz="1400" dirty="0"/>
              <a:t>The findings are used to generate </a:t>
            </a:r>
            <a:r>
              <a:rPr lang="en-US" sz="1400" b="1" dirty="0"/>
              <a:t>evidence-based insights and recommendations</a:t>
            </a:r>
            <a:r>
              <a:rPr lang="en-US" sz="1400" dirty="0"/>
              <a:t> that can support better understanding of seasonal agricultural performance and contribute to more informed agricultural planning.</a:t>
            </a:r>
          </a:p>
          <a:p>
            <a:pPr marL="285750" indent="-285750">
              <a:buFont typeface="Wingdings" panose="05000000000000000000" pitchFamily="2" charset="2"/>
              <a:buChar char="q"/>
            </a:pP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3" name="Rectangle 5"/>
          <p:cNvSpPr>
            <a:spLocks noGrp="1" noChangeArrowheads="1"/>
          </p:cNvSpPr>
          <p:nvPr>
            <p:ph type="body" sz="quarter" idx="12"/>
          </p:nvPr>
        </p:nvSpPr>
        <p:spPr bwMode="auto">
          <a:xfrm>
            <a:off x="620008" y="1679258"/>
            <a:ext cx="894257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Farmers:</a:t>
            </a:r>
            <a:r>
              <a:rPr kumimoji="0" lang="en-US" sz="1800" b="0" i="0" u="none" strike="noStrike" cap="none" normalizeH="0" baseline="0" dirty="0" smtClean="0">
                <a:ln>
                  <a:noFill/>
                </a:ln>
                <a:solidFill>
                  <a:schemeClr val="tx1"/>
                </a:solidFill>
                <a:effectLst/>
                <a:latin typeface="Arial" panose="020B0604020202020204" pitchFamily="34" charset="0"/>
              </a:rPr>
              <a:t> To understand seasonal crop performance, yield patterns, </a:t>
            </a:r>
          </a:p>
          <a:p>
            <a:pPr marL="0" marR="0" lvl="0" indent="0" algn="l" defTabSz="914400" rtl="0" eaLnBrk="0" fontAlgn="base" latinLnBrk="0" hangingPunct="0">
              <a:lnSpc>
                <a:spcPct val="100000"/>
              </a:lnSpc>
              <a:spcBef>
                <a:spcPct val="0"/>
              </a:spcBef>
              <a:spcAft>
                <a:spcPct val="0"/>
              </a:spcAft>
              <a:buClrTx/>
              <a:buSzTx/>
              <a:buNone/>
              <a:tabLst/>
            </a:pPr>
            <a:r>
              <a:rPr lang="en-US" sz="1800" dirty="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resource usage, and profitability.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Agricultural Planners:</a:t>
            </a:r>
            <a:r>
              <a:rPr kumimoji="0" lang="en-US" sz="1800" b="0" i="0" u="none" strike="noStrike" cap="none" normalizeH="0" baseline="0" dirty="0" smtClean="0">
                <a:ln>
                  <a:noFill/>
                </a:ln>
                <a:solidFill>
                  <a:schemeClr val="tx1"/>
                </a:solidFill>
                <a:effectLst/>
                <a:latin typeface="Arial" panose="020B0604020202020204" pitchFamily="34" charset="0"/>
              </a:rPr>
              <a:t> To support evidence-based seasonal planning and </a:t>
            </a:r>
          </a:p>
          <a:p>
            <a:pPr marL="0" marR="0" lvl="0" indent="0" algn="l" defTabSz="914400" rtl="0" eaLnBrk="0" fontAlgn="base" latinLnBrk="0" hangingPunct="0">
              <a:lnSpc>
                <a:spcPct val="100000"/>
              </a:lnSpc>
              <a:spcBef>
                <a:spcPct val="0"/>
              </a:spcBef>
              <a:spcAft>
                <a:spcPct val="0"/>
              </a:spcAft>
              <a:buClrTx/>
              <a:buSzTx/>
              <a:buNone/>
              <a:tabLst/>
            </a:pPr>
            <a:r>
              <a:rPr lang="en-US" sz="1800" dirty="0">
                <a:solidFill>
                  <a:schemeClr val="tx1"/>
                </a:solidFill>
                <a:latin typeface="Arial" panose="020B0604020202020204" pitchFamily="34" charset="0"/>
              </a:rPr>
              <a:t> </a:t>
            </a:r>
            <a:r>
              <a:rPr lang="en-US" sz="1800" dirty="0" smtClean="0">
                <a:solidFill>
                  <a:schemeClr val="tx1"/>
                </a:solidFill>
                <a:latin typeface="Arial" panose="020B0604020202020204" pitchFamily="34" charset="0"/>
              </a:rPr>
              <a:t> </a:t>
            </a:r>
            <a:r>
              <a:rPr kumimoji="0" lang="en-US" sz="1800" b="0" i="0" u="none" strike="noStrike" cap="none" normalizeH="0" baseline="0" dirty="0" smtClean="0">
                <a:ln>
                  <a:noFill/>
                </a:ln>
                <a:solidFill>
                  <a:schemeClr val="tx1"/>
                </a:solidFill>
                <a:effectLst/>
                <a:latin typeface="Arial" panose="020B0604020202020204" pitchFamily="34" charset="0"/>
              </a:rPr>
              <a:t>resource allocation.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Agricultural Researchers:</a:t>
            </a:r>
            <a:r>
              <a:rPr kumimoji="0" lang="en-US" sz="1800" b="0" i="0" u="none" strike="noStrike" cap="none" normalizeH="0" baseline="0" dirty="0" smtClean="0">
                <a:ln>
                  <a:noFill/>
                </a:ln>
                <a:solidFill>
                  <a:schemeClr val="tx1"/>
                </a:solidFill>
                <a:effectLst/>
                <a:latin typeface="Arial" panose="020B0604020202020204" pitchFamily="34" charset="0"/>
              </a:rPr>
              <a:t> To identify seasonal trends, environmental relationships, </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and areas requiring further investigation.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Government &amp; Agricultural Organizations:</a:t>
            </a:r>
            <a:r>
              <a:rPr kumimoji="0" lang="en-US" sz="1800" b="0" i="0" u="none" strike="noStrike" cap="none" normalizeH="0" baseline="0" dirty="0" smtClean="0">
                <a:ln>
                  <a:noFill/>
                </a:ln>
                <a:solidFill>
                  <a:schemeClr val="tx1"/>
                </a:solidFill>
                <a:effectLst/>
                <a:latin typeface="Arial" panose="020B0604020202020204" pitchFamily="34" charset="0"/>
              </a:rPr>
              <a:t> To support data-driven agricultural </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policies and planning.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Agribusinesses:</a:t>
            </a:r>
            <a:r>
              <a:rPr kumimoji="0" lang="en-US" sz="1800" b="0" i="0" u="none" strike="noStrike" cap="none" normalizeH="0" baseline="0" dirty="0" smtClean="0">
                <a:ln>
                  <a:noFill/>
                </a:ln>
                <a:solidFill>
                  <a:schemeClr val="tx1"/>
                </a:solidFill>
                <a:effectLst/>
                <a:latin typeface="Arial" panose="020B0604020202020204" pitchFamily="34" charset="0"/>
              </a:rPr>
              <a:t> To understand seasonal production and economic performance</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for better decision-making.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p:cNvSpPr>
            <a:spLocks noGrp="1" noChangeArrowheads="1"/>
          </p:cNvSpPr>
          <p:nvPr>
            <p:ph type="body" sz="quarter" idx="12"/>
          </p:nvPr>
        </p:nvSpPr>
        <p:spPr bwMode="auto">
          <a:xfrm>
            <a:off x="660399" y="1487566"/>
            <a:ext cx="777969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Python</a:t>
            </a:r>
            <a:r>
              <a:rPr kumimoji="0" lang="en-US" sz="1800" b="0" i="0" u="none" strike="noStrike" cap="none" normalizeH="0" baseline="0" dirty="0" smtClean="0">
                <a:ln>
                  <a:noFill/>
                </a:ln>
                <a:solidFill>
                  <a:schemeClr val="tx1"/>
                </a:solidFill>
                <a:effectLst/>
                <a:latin typeface="Arial" panose="020B0604020202020204" pitchFamily="34" charset="0"/>
              </a:rPr>
              <a:t> – Primary programming language used for data analysis.</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Google </a:t>
            </a:r>
            <a:r>
              <a:rPr kumimoji="0" lang="en-US" sz="1800" b="1" i="0" u="none" strike="noStrike" cap="none" normalizeH="0" baseline="0" dirty="0" err="1" smtClean="0">
                <a:ln>
                  <a:noFill/>
                </a:ln>
                <a:solidFill>
                  <a:schemeClr val="tx1"/>
                </a:solidFill>
                <a:effectLst/>
                <a:latin typeface="Arial" panose="020B0604020202020204" pitchFamily="34" charset="0"/>
              </a:rPr>
              <a:t>Colab</a:t>
            </a:r>
            <a:r>
              <a:rPr kumimoji="0" lang="en-US" sz="1800" b="0" i="0" u="none" strike="noStrike" cap="none" normalizeH="0" baseline="0" dirty="0" smtClean="0">
                <a:ln>
                  <a:noFill/>
                </a:ln>
                <a:solidFill>
                  <a:schemeClr val="tx1"/>
                </a:solidFill>
                <a:effectLst/>
                <a:latin typeface="Arial" panose="020B0604020202020204" pitchFamily="34" charset="0"/>
              </a:rPr>
              <a:t> – Used as the development and execution environment.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Pandas</a:t>
            </a:r>
            <a:r>
              <a:rPr kumimoji="0" lang="en-US" sz="1800" b="0" i="0" u="none" strike="noStrike" cap="none" normalizeH="0" baseline="0" dirty="0" smtClean="0">
                <a:ln>
                  <a:noFill/>
                </a:ln>
                <a:solidFill>
                  <a:schemeClr val="tx1"/>
                </a:solidFill>
                <a:effectLst/>
                <a:latin typeface="Arial" panose="020B0604020202020204" pitchFamily="34" charset="0"/>
              </a:rPr>
              <a:t> – Used for data loading, cleaning, manipulation, and analysis.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err="1" smtClean="0">
                <a:ln>
                  <a:noFill/>
                </a:ln>
                <a:solidFill>
                  <a:schemeClr val="tx1"/>
                </a:solidFill>
                <a:effectLst/>
                <a:latin typeface="Arial" panose="020B0604020202020204" pitchFamily="34" charset="0"/>
              </a:rPr>
              <a:t>NumPy</a:t>
            </a:r>
            <a:r>
              <a:rPr kumimoji="0" lang="en-US" sz="1800" b="0" i="0" u="none" strike="noStrike" cap="none" normalizeH="0" baseline="0" dirty="0" smtClean="0">
                <a:ln>
                  <a:noFill/>
                </a:ln>
                <a:solidFill>
                  <a:schemeClr val="tx1"/>
                </a:solidFill>
                <a:effectLst/>
                <a:latin typeface="Arial" panose="020B0604020202020204" pitchFamily="34" charset="0"/>
              </a:rPr>
              <a:t> – Used for numerical calculations and data operations.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err="1" smtClean="0">
                <a:ln>
                  <a:noFill/>
                </a:ln>
                <a:solidFill>
                  <a:schemeClr val="tx1"/>
                </a:solidFill>
                <a:effectLst/>
                <a:latin typeface="Arial" panose="020B0604020202020204" pitchFamily="34" charset="0"/>
              </a:rPr>
              <a:t>Matplotlib</a:t>
            </a:r>
            <a:r>
              <a:rPr kumimoji="0" lang="en-US" sz="1800" b="0" i="0" u="none" strike="noStrike" cap="none" normalizeH="0" baseline="0" dirty="0" smtClean="0">
                <a:ln>
                  <a:noFill/>
                </a:ln>
                <a:solidFill>
                  <a:schemeClr val="tx1"/>
                </a:solidFill>
                <a:effectLst/>
                <a:latin typeface="Arial" panose="020B0604020202020204" pitchFamily="34" charset="0"/>
              </a:rPr>
              <a:t> – Used to create visualizations and present analytical findings.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CSV Dataset</a:t>
            </a:r>
            <a:r>
              <a:rPr kumimoji="0" lang="en-US" sz="1800" b="0" i="0" u="none" strike="noStrike" cap="none" normalizeH="0" baseline="0" dirty="0" smtClean="0">
                <a:ln>
                  <a:noFill/>
                </a:ln>
                <a:solidFill>
                  <a:schemeClr val="tx1"/>
                </a:solidFill>
                <a:effectLst/>
                <a:latin typeface="Arial" panose="020B0604020202020204" pitchFamily="34" charset="0"/>
              </a:rPr>
              <a:t> – Used as the source data for the analysis.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u="sng" dirty="0"/>
              <a:t>RESULTS</a:t>
            </a:r>
            <a:r>
              <a:rPr lang="en-GB" dirty="0"/>
              <a:t>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2" name="Picture 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9404" y="842210"/>
            <a:ext cx="6266537" cy="5822749"/>
          </a:xfrm>
          <a:prstGeom prst="rect">
            <a:avLst/>
          </a:prstGeom>
        </p:spPr>
      </p:pic>
      <p:pic>
        <p:nvPicPr>
          <p:cNvPr id="3" name="Picture 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164" y="2065535"/>
            <a:ext cx="3861089" cy="2013170"/>
          </a:xfrm>
          <a:prstGeom prst="rect">
            <a:avLst/>
          </a:prstGeom>
        </p:spPr>
      </p:pic>
      <p:pic>
        <p:nvPicPr>
          <p:cNvPr id="9" name="Picture 8"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952" y="4436476"/>
            <a:ext cx="4486901" cy="129558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5568484" y="685800"/>
            <a:ext cx="6496957" cy="5979159"/>
          </a:xfrm>
          <a:prstGeom prst="rect">
            <a:avLst/>
          </a:prstGeom>
        </p:spPr>
      </p:pic>
      <p:pic>
        <p:nvPicPr>
          <p:cNvPr id="3" name="Picture 2"/>
          <p:cNvPicPr>
            <a:picLocks noChangeAspect="1"/>
          </p:cNvPicPr>
          <p:nvPr/>
        </p:nvPicPr>
        <p:blipFill>
          <a:blip r:embed="rId4"/>
          <a:stretch>
            <a:fillRect/>
          </a:stretch>
        </p:blipFill>
        <p:spPr>
          <a:xfrm>
            <a:off x="675957" y="1275371"/>
            <a:ext cx="4544059" cy="2676899"/>
          </a:xfrm>
          <a:prstGeom prst="rect">
            <a:avLst/>
          </a:prstGeom>
        </p:spPr>
      </p:pic>
      <p:pic>
        <p:nvPicPr>
          <p:cNvPr id="6" name="Picture 5"/>
          <p:cNvPicPr>
            <a:picLocks noChangeAspect="1"/>
          </p:cNvPicPr>
          <p:nvPr/>
        </p:nvPicPr>
        <p:blipFill>
          <a:blip r:embed="rId5"/>
          <a:stretch>
            <a:fillRect/>
          </a:stretch>
        </p:blipFill>
        <p:spPr>
          <a:xfrm>
            <a:off x="785543" y="4329178"/>
            <a:ext cx="4782941" cy="175880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p:cNvPicPr>
            <a:picLocks noChangeAspect="1"/>
          </p:cNvPicPr>
          <p:nvPr/>
        </p:nvPicPr>
        <p:blipFill>
          <a:blip r:embed="rId3"/>
          <a:stretch>
            <a:fillRect/>
          </a:stretch>
        </p:blipFill>
        <p:spPr>
          <a:xfrm>
            <a:off x="5763453" y="878305"/>
            <a:ext cx="5906324" cy="5197642"/>
          </a:xfrm>
          <a:prstGeom prst="rect">
            <a:avLst/>
          </a:prstGeom>
        </p:spPr>
      </p:pic>
      <p:pic>
        <p:nvPicPr>
          <p:cNvPr id="9" name="Picture 8"/>
          <p:cNvPicPr>
            <a:picLocks noChangeAspect="1"/>
          </p:cNvPicPr>
          <p:nvPr/>
        </p:nvPicPr>
        <p:blipFill>
          <a:blip r:embed="rId4"/>
          <a:stretch>
            <a:fillRect/>
          </a:stretch>
        </p:blipFill>
        <p:spPr>
          <a:xfrm>
            <a:off x="365172" y="1369904"/>
            <a:ext cx="5191850" cy="2638793"/>
          </a:xfrm>
          <a:prstGeom prst="rect">
            <a:avLst/>
          </a:prstGeom>
        </p:spPr>
      </p:pic>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3664543" y="400785"/>
            <a:ext cx="4275138" cy="477520"/>
          </a:xfrm>
        </p:spPr>
        <p:txBody>
          <a:bodyPr/>
          <a:lstStyle/>
          <a:p>
            <a:pPr marL="0" indent="0">
              <a:buNone/>
            </a:pPr>
            <a:endParaRPr lang="en-IN" dirty="0"/>
          </a:p>
        </p:txBody>
      </p:sp>
      <p:pic>
        <p:nvPicPr>
          <p:cNvPr id="11" name="Picture 10"/>
          <p:cNvPicPr>
            <a:picLocks noChangeAspect="1"/>
          </p:cNvPicPr>
          <p:nvPr/>
        </p:nvPicPr>
        <p:blipFill>
          <a:blip r:embed="rId5"/>
          <a:stretch>
            <a:fillRect/>
          </a:stretch>
        </p:blipFill>
        <p:spPr>
          <a:xfrm>
            <a:off x="490204" y="4315592"/>
            <a:ext cx="5170033" cy="184943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675957" y="4535905"/>
            <a:ext cx="4088548" cy="1629289"/>
          </a:xfrm>
          <a:prstGeom prst="rect">
            <a:avLst/>
          </a:prstGeom>
        </p:spPr>
      </p:pic>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p:cNvPicPr>
            <a:picLocks noChangeAspect="1"/>
          </p:cNvPicPr>
          <p:nvPr/>
        </p:nvPicPr>
        <p:blipFill>
          <a:blip r:embed="rId4"/>
          <a:stretch>
            <a:fillRect/>
          </a:stretch>
        </p:blipFill>
        <p:spPr>
          <a:xfrm>
            <a:off x="5568484" y="1183594"/>
            <a:ext cx="6049219" cy="5288325"/>
          </a:xfrm>
          <a:prstGeom prst="rect">
            <a:avLst/>
          </a:prstGeom>
        </p:spPr>
      </p:pic>
      <p:pic>
        <p:nvPicPr>
          <p:cNvPr id="6" name="Picture 5"/>
          <p:cNvPicPr>
            <a:picLocks noChangeAspect="1"/>
          </p:cNvPicPr>
          <p:nvPr/>
        </p:nvPicPr>
        <p:blipFill>
          <a:blip r:embed="rId5"/>
          <a:stretch>
            <a:fillRect/>
          </a:stretch>
        </p:blipFill>
        <p:spPr>
          <a:xfrm>
            <a:off x="552769" y="1308454"/>
            <a:ext cx="5015715" cy="317631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stretch>
            <a:fillRect/>
          </a:stretch>
        </p:blipFill>
        <p:spPr>
          <a:xfrm>
            <a:off x="675957" y="4845430"/>
            <a:ext cx="6154009" cy="1171739"/>
          </a:xfrm>
          <a:prstGeom prst="rect">
            <a:avLst/>
          </a:prstGeom>
        </p:spPr>
      </p:pic>
      <p:pic>
        <p:nvPicPr>
          <p:cNvPr id="3" name="Picture 2"/>
          <p:cNvPicPr>
            <a:picLocks noChangeAspect="1"/>
          </p:cNvPicPr>
          <p:nvPr/>
        </p:nvPicPr>
        <p:blipFill>
          <a:blip r:embed="rId4"/>
          <a:stretch>
            <a:fillRect/>
          </a:stretch>
        </p:blipFill>
        <p:spPr>
          <a:xfrm>
            <a:off x="5912853" y="1123149"/>
            <a:ext cx="5973009" cy="4439270"/>
          </a:xfrm>
          <a:prstGeom prst="rect">
            <a:avLst/>
          </a:prstGeom>
        </p:spPr>
      </p:pic>
      <p:pic>
        <p:nvPicPr>
          <p:cNvPr id="6" name="Picture 5"/>
          <p:cNvPicPr>
            <a:picLocks noChangeAspect="1"/>
          </p:cNvPicPr>
          <p:nvPr/>
        </p:nvPicPr>
        <p:blipFill>
          <a:blip r:embed="rId5"/>
          <a:stretch>
            <a:fillRect/>
          </a:stretch>
        </p:blipFill>
        <p:spPr>
          <a:xfrm>
            <a:off x="602136" y="1428122"/>
            <a:ext cx="5413653" cy="296255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p:cNvPicPr>
            <a:picLocks noChangeAspect="1"/>
          </p:cNvPicPr>
          <p:nvPr/>
        </p:nvPicPr>
        <p:blipFill>
          <a:blip r:embed="rId3"/>
          <a:stretch>
            <a:fillRect/>
          </a:stretch>
        </p:blipFill>
        <p:spPr>
          <a:xfrm>
            <a:off x="675957" y="5055394"/>
            <a:ext cx="6541658" cy="1490846"/>
          </a:xfrm>
          <a:prstGeom prst="rect">
            <a:avLst/>
          </a:prstGeom>
        </p:spPr>
      </p:pic>
      <p:pic>
        <p:nvPicPr>
          <p:cNvPr id="11" name="Picture 10"/>
          <p:cNvPicPr>
            <a:picLocks noChangeAspect="1"/>
          </p:cNvPicPr>
          <p:nvPr/>
        </p:nvPicPr>
        <p:blipFill>
          <a:blip r:embed="rId4"/>
          <a:stretch>
            <a:fillRect/>
          </a:stretch>
        </p:blipFill>
        <p:spPr>
          <a:xfrm>
            <a:off x="5568484" y="1201586"/>
            <a:ext cx="6182588" cy="4525446"/>
          </a:xfrm>
          <a:prstGeom prst="rect">
            <a:avLst/>
          </a:prstGeom>
        </p:spPr>
      </p:pic>
      <p:pic>
        <p:nvPicPr>
          <p:cNvPr id="12" name="Picture 11"/>
          <p:cNvPicPr>
            <a:picLocks noChangeAspect="1"/>
          </p:cNvPicPr>
          <p:nvPr/>
        </p:nvPicPr>
        <p:blipFill>
          <a:blip r:embed="rId5"/>
          <a:stretch>
            <a:fillRect/>
          </a:stretch>
        </p:blipFill>
        <p:spPr>
          <a:xfrm>
            <a:off x="617988" y="1491861"/>
            <a:ext cx="5121075" cy="3072396"/>
          </a:xfrm>
          <a:prstGeom prst="rect">
            <a:avLst/>
          </a:prstGeom>
        </p:spPr>
      </p:pic>
    </p:spTree>
    <p:extLst>
      <p:ext uri="{BB962C8B-B14F-4D97-AF65-F5344CB8AC3E}">
        <p14:creationId xmlns:p14="http://schemas.microsoft.com/office/powerpoint/2010/main" val="417441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stretch>
            <a:fillRect/>
          </a:stretch>
        </p:blipFill>
        <p:spPr>
          <a:xfrm>
            <a:off x="675957" y="4734471"/>
            <a:ext cx="6410643" cy="1705213"/>
          </a:xfrm>
          <a:prstGeom prst="rect">
            <a:avLst/>
          </a:prstGeom>
        </p:spPr>
      </p:pic>
      <p:pic>
        <p:nvPicPr>
          <p:cNvPr id="3" name="Picture 2"/>
          <p:cNvPicPr>
            <a:picLocks noChangeAspect="1"/>
          </p:cNvPicPr>
          <p:nvPr/>
        </p:nvPicPr>
        <p:blipFill>
          <a:blip r:embed="rId4"/>
          <a:stretch>
            <a:fillRect/>
          </a:stretch>
        </p:blipFill>
        <p:spPr>
          <a:xfrm>
            <a:off x="5763453" y="1014107"/>
            <a:ext cx="6096851" cy="5037777"/>
          </a:xfrm>
          <a:prstGeom prst="rect">
            <a:avLst/>
          </a:prstGeom>
        </p:spPr>
      </p:pic>
      <p:pic>
        <p:nvPicPr>
          <p:cNvPr id="6" name="Picture 5"/>
          <p:cNvPicPr>
            <a:picLocks noChangeAspect="1"/>
          </p:cNvPicPr>
          <p:nvPr/>
        </p:nvPicPr>
        <p:blipFill>
          <a:blip r:embed="rId5"/>
          <a:stretch>
            <a:fillRect/>
          </a:stretch>
        </p:blipFill>
        <p:spPr>
          <a:xfrm>
            <a:off x="675957" y="1478032"/>
            <a:ext cx="5375927" cy="657317"/>
          </a:xfrm>
          <a:prstGeom prst="rect">
            <a:avLst/>
          </a:prstGeom>
        </p:spPr>
      </p:pic>
      <p:pic>
        <p:nvPicPr>
          <p:cNvPr id="9" name="Picture 8"/>
          <p:cNvPicPr>
            <a:picLocks noChangeAspect="1"/>
          </p:cNvPicPr>
          <p:nvPr/>
        </p:nvPicPr>
        <p:blipFill>
          <a:blip r:embed="rId6"/>
          <a:stretch>
            <a:fillRect/>
          </a:stretch>
        </p:blipFill>
        <p:spPr>
          <a:xfrm>
            <a:off x="675956" y="2447064"/>
            <a:ext cx="4406345" cy="1848209"/>
          </a:xfrm>
          <a:prstGeom prst="rect">
            <a:avLst/>
          </a:prstGeom>
        </p:spPr>
      </p:pic>
    </p:spTree>
    <p:extLst>
      <p:ext uri="{BB962C8B-B14F-4D97-AF65-F5344CB8AC3E}">
        <p14:creationId xmlns:p14="http://schemas.microsoft.com/office/powerpoint/2010/main" val="3845684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stretch>
            <a:fillRect/>
          </a:stretch>
        </p:blipFill>
        <p:spPr>
          <a:xfrm>
            <a:off x="675957" y="5003642"/>
            <a:ext cx="6725589" cy="1600423"/>
          </a:xfrm>
          <a:prstGeom prst="rect">
            <a:avLst/>
          </a:prstGeom>
        </p:spPr>
      </p:pic>
      <p:pic>
        <p:nvPicPr>
          <p:cNvPr id="3" name="Picture 2"/>
          <p:cNvPicPr>
            <a:picLocks noChangeAspect="1"/>
          </p:cNvPicPr>
          <p:nvPr/>
        </p:nvPicPr>
        <p:blipFill>
          <a:blip r:embed="rId4"/>
          <a:stretch>
            <a:fillRect/>
          </a:stretch>
        </p:blipFill>
        <p:spPr>
          <a:xfrm>
            <a:off x="5680413" y="1165224"/>
            <a:ext cx="6049219" cy="5115260"/>
          </a:xfrm>
          <a:prstGeom prst="rect">
            <a:avLst/>
          </a:prstGeom>
        </p:spPr>
      </p:pic>
      <p:pic>
        <p:nvPicPr>
          <p:cNvPr id="6" name="Picture 5"/>
          <p:cNvPicPr>
            <a:picLocks noChangeAspect="1"/>
          </p:cNvPicPr>
          <p:nvPr/>
        </p:nvPicPr>
        <p:blipFill>
          <a:blip r:embed="rId5"/>
          <a:stretch>
            <a:fillRect/>
          </a:stretch>
        </p:blipFill>
        <p:spPr>
          <a:xfrm>
            <a:off x="675957" y="1165223"/>
            <a:ext cx="4810443" cy="3777523"/>
          </a:xfrm>
          <a:prstGeom prst="rect">
            <a:avLst/>
          </a:prstGeom>
        </p:spPr>
      </p:pic>
    </p:spTree>
    <p:extLst>
      <p:ext uri="{BB962C8B-B14F-4D97-AF65-F5344CB8AC3E}">
        <p14:creationId xmlns:p14="http://schemas.microsoft.com/office/powerpoint/2010/main" val="237490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61677" y="877402"/>
            <a:ext cx="5382712" cy="830997"/>
          </a:xfrm>
        </p:spPr>
        <p:txBody>
          <a:bodyPr>
            <a:normAutofit fontScale="90000"/>
          </a:bodyPr>
          <a:lstStyle/>
          <a:p>
            <a:r>
              <a:rPr lang="en-IN" sz="3100" u="sng" dirty="0"/>
              <a:t>Project </a:t>
            </a:r>
            <a:r>
              <a:rPr lang="en-IN" sz="3100" u="sng" dirty="0" smtClean="0"/>
              <a:t>Checklist</a:t>
            </a:r>
            <a:r>
              <a:rPr lang="en-IN" sz="1600" dirty="0" smtClean="0"/>
              <a:t/>
            </a:r>
            <a:br>
              <a:rPr lang="en-IN" sz="1600" dirty="0" smtClean="0"/>
            </a:br>
            <a:r>
              <a:rPr lang="en-IN" sz="1600" dirty="0" smtClean="0"/>
              <a:t/>
            </a:r>
            <a:br>
              <a:rPr lang="en-IN" sz="1600" dirty="0" smtClean="0"/>
            </a:br>
            <a:r>
              <a:rPr lang="en-IN" sz="1600" dirty="0"/>
              <a:t/>
            </a:r>
            <a:br>
              <a:rPr lang="en-IN" sz="1600" dirty="0"/>
            </a:br>
            <a:r>
              <a:rPr lang="en-IN" sz="1600" dirty="0"/>
              <a:t>✓ Dataset loaded successfully</a:t>
            </a:r>
            <a:br>
              <a:rPr lang="en-IN" sz="1600" dirty="0"/>
            </a:br>
            <a:r>
              <a:rPr lang="en-IN" sz="1600" dirty="0"/>
              <a:t>✓ Top 5 rows </a:t>
            </a:r>
            <a:r>
              <a:rPr lang="en-IN" sz="1600" dirty="0" err="1"/>
              <a:t>analyzed</a:t>
            </a:r>
            <a:r>
              <a:rPr lang="en-IN" sz="1600" dirty="0"/>
              <a:t/>
            </a:r>
            <a:br>
              <a:rPr lang="en-IN" sz="1600" dirty="0"/>
            </a:br>
            <a:r>
              <a:rPr lang="en-IN" sz="1600" dirty="0"/>
              <a:t>✓ Dataset shape and structure examined</a:t>
            </a:r>
            <a:br>
              <a:rPr lang="en-IN" sz="1600" dirty="0"/>
            </a:br>
            <a:r>
              <a:rPr lang="en-IN" sz="1600" dirty="0"/>
              <a:t>✓ Data types examined</a:t>
            </a:r>
            <a:br>
              <a:rPr lang="en-IN" sz="1600" dirty="0"/>
            </a:br>
            <a:r>
              <a:rPr lang="en-IN" sz="1600" dirty="0"/>
              <a:t>✓ Missing values identified and handled</a:t>
            </a:r>
            <a:br>
              <a:rPr lang="en-IN" sz="1600" dirty="0"/>
            </a:br>
            <a:r>
              <a:rPr lang="en-IN" sz="1600" dirty="0"/>
              <a:t>✓ Duplicate records identified and handled</a:t>
            </a:r>
            <a:br>
              <a:rPr lang="en-IN" sz="1600" dirty="0"/>
            </a:br>
            <a:r>
              <a:rPr lang="en-IN" sz="1600" dirty="0"/>
              <a:t>✓ Descriptive/statistical analysis performed</a:t>
            </a:r>
            <a:br>
              <a:rPr lang="en-IN" sz="1600" dirty="0"/>
            </a:br>
            <a:r>
              <a:rPr lang="en-IN" sz="1600" dirty="0"/>
              <a:t>✓ Outliers investigated</a:t>
            </a:r>
            <a:br>
              <a:rPr lang="en-IN" sz="1600" dirty="0"/>
            </a:br>
            <a:r>
              <a:rPr lang="en-IN" sz="1600" dirty="0"/>
              <a:t>✓ </a:t>
            </a:r>
            <a:r>
              <a:rPr lang="en-IN" sz="1600" dirty="0" err="1"/>
              <a:t>Univariate</a:t>
            </a:r>
            <a:r>
              <a:rPr lang="en-IN" sz="1600" dirty="0"/>
              <a:t> analysis completed</a:t>
            </a:r>
            <a:br>
              <a:rPr lang="en-IN" sz="1600" dirty="0"/>
            </a:br>
            <a:r>
              <a:rPr lang="en-IN" sz="1600" dirty="0"/>
              <a:t>✓ Bivariate analysis completed</a:t>
            </a:r>
            <a:br>
              <a:rPr lang="en-IN" sz="1600" dirty="0"/>
            </a:br>
            <a:r>
              <a:rPr lang="en-IN" sz="1600" dirty="0"/>
              <a:t>✓ Multivariate analysis completed</a:t>
            </a:r>
            <a:br>
              <a:rPr lang="en-IN" sz="1600" dirty="0"/>
            </a:br>
            <a:r>
              <a:rPr lang="en-IN" sz="1600" dirty="0"/>
              <a:t>✓ Correlation analysis completed</a:t>
            </a:r>
            <a:br>
              <a:rPr lang="en-IN" sz="1600" dirty="0"/>
            </a:br>
            <a:r>
              <a:rPr lang="en-IN" sz="1600" dirty="0"/>
              <a:t>✓ Seasonal comparisons performed</a:t>
            </a:r>
            <a:br>
              <a:rPr lang="en-IN" sz="1600" dirty="0"/>
            </a:br>
            <a:r>
              <a:rPr lang="en-IN" sz="1600" dirty="0"/>
              <a:t>✓ At least 3 student-designed analyses completed</a:t>
            </a:r>
            <a:br>
              <a:rPr lang="en-IN" sz="1600" dirty="0"/>
            </a:br>
            <a:r>
              <a:rPr lang="en-IN" sz="1600" dirty="0"/>
              <a:t>✓ Evidence-based recommendations provided</a:t>
            </a:r>
            <a:br>
              <a:rPr lang="en-IN" sz="1600" dirty="0"/>
            </a:br>
            <a:endParaRPr lang="en-IN" sz="1600" dirty="0"/>
          </a:p>
        </p:txBody>
      </p:sp>
    </p:spTree>
    <p:extLst>
      <p:ext uri="{BB962C8B-B14F-4D97-AF65-F5344CB8AC3E}">
        <p14:creationId xmlns:p14="http://schemas.microsoft.com/office/powerpoint/2010/main" val="9405433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1"/>
          <p:cNvSpPr>
            <a:spLocks noChangeArrowheads="1"/>
          </p:cNvSpPr>
          <p:nvPr/>
        </p:nvSpPr>
        <p:spPr bwMode="auto">
          <a:xfrm>
            <a:off x="675957" y="1201586"/>
            <a:ext cx="992130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Predictive Analytics:</a:t>
            </a:r>
            <a:r>
              <a:rPr kumimoji="0" lang="en-US" sz="1800" b="0" i="0" u="none" strike="noStrike" cap="none" normalizeH="0" baseline="0" dirty="0" smtClean="0">
                <a:ln>
                  <a:noFill/>
                </a:ln>
                <a:solidFill>
                  <a:schemeClr val="tx1"/>
                </a:solidFill>
                <a:effectLst/>
                <a:latin typeface="Arial" panose="020B0604020202020204" pitchFamily="34" charset="0"/>
              </a:rPr>
              <a:t> Develop models to predict crop yield and profitability for different</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panose="020B0604020202020204" pitchFamily="34" charset="0"/>
              </a:rPr>
              <a:t> seasons.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Weather Integration:</a:t>
            </a:r>
            <a:r>
              <a:rPr kumimoji="0" lang="en-US" sz="1800" b="0" i="0" u="none" strike="noStrike" cap="none" normalizeH="0" baseline="0" dirty="0" smtClean="0">
                <a:ln>
                  <a:noFill/>
                </a:ln>
                <a:solidFill>
                  <a:schemeClr val="tx1"/>
                </a:solidFill>
                <a:effectLst/>
                <a:latin typeface="Arial" panose="020B0604020202020204" pitchFamily="34" charset="0"/>
              </a:rPr>
              <a:t> Incorporate real-time weather data to improve agricultural</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panose="020B0604020202020204" pitchFamily="34" charset="0"/>
              </a:rPr>
              <a:t> performance analysis.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Crop Recommendation:</a:t>
            </a:r>
            <a:r>
              <a:rPr kumimoji="0" lang="en-US" sz="1800" b="0" i="0" u="none" strike="noStrike" cap="none" normalizeH="0" baseline="0" dirty="0" smtClean="0">
                <a:ln>
                  <a:noFill/>
                </a:ln>
                <a:solidFill>
                  <a:schemeClr val="tx1"/>
                </a:solidFill>
                <a:effectLst/>
                <a:latin typeface="Arial" panose="020B0604020202020204" pitchFamily="34" charset="0"/>
              </a:rPr>
              <a:t> Build a system to recommend suitable crops based on seasonal and</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panose="020B0604020202020204" pitchFamily="34" charset="0"/>
              </a:rPr>
              <a:t> environmental conditions.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Resource Optimization:</a:t>
            </a:r>
            <a:r>
              <a:rPr kumimoji="0" lang="en-US" sz="1800" b="0" i="0" u="none" strike="noStrike" cap="none" normalizeH="0" baseline="0" dirty="0" smtClean="0">
                <a:ln>
                  <a:noFill/>
                </a:ln>
                <a:solidFill>
                  <a:schemeClr val="tx1"/>
                </a:solidFill>
                <a:effectLst/>
                <a:latin typeface="Arial" panose="020B0604020202020204" pitchFamily="34" charset="0"/>
              </a:rPr>
              <a:t> Identify strategies for efficient use of water, fertilizer, and other</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panose="020B0604020202020204" pitchFamily="34" charset="0"/>
              </a:rPr>
              <a:t> agricultural resources.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Regional Analysis:</a:t>
            </a:r>
            <a:r>
              <a:rPr kumimoji="0" lang="en-US" sz="1800" b="0" i="0" u="none" strike="noStrike" cap="none" normalizeH="0" baseline="0" dirty="0" smtClean="0">
                <a:ln>
                  <a:noFill/>
                </a:ln>
                <a:solidFill>
                  <a:schemeClr val="tx1"/>
                </a:solidFill>
                <a:effectLst/>
                <a:latin typeface="Arial" panose="020B0604020202020204" pitchFamily="34" charset="0"/>
              </a:rPr>
              <a:t> Expand the analysis to more regions and datasets to identify broader</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panose="020B0604020202020204" pitchFamily="34" charset="0"/>
              </a:rPr>
              <a:t> agricultural patterns. </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Interactive Dashboard:</a:t>
            </a:r>
            <a:r>
              <a:rPr kumimoji="0" lang="en-US" sz="1800" b="0" i="0" u="none" strike="noStrike" cap="none" normalizeH="0" baseline="0" dirty="0" smtClean="0">
                <a:ln>
                  <a:noFill/>
                </a:ln>
                <a:solidFill>
                  <a:schemeClr val="tx1"/>
                </a:solidFill>
                <a:effectLst/>
                <a:latin typeface="Arial" panose="020B0604020202020204" pitchFamily="34" charset="0"/>
              </a:rPr>
              <a:t> Develop an interactive dashboard to help farmers and agricultural</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panose="020B0604020202020204" pitchFamily="34" charset="0"/>
              </a:rPr>
              <a:t> stakeholders explore insights easily. </a:t>
            </a:r>
          </a:p>
        </p:txBody>
      </p:sp>
    </p:spTree>
    <p:extLst>
      <p:ext uri="{BB962C8B-B14F-4D97-AF65-F5344CB8AC3E}">
        <p14:creationId xmlns:p14="http://schemas.microsoft.com/office/powerpoint/2010/main" val="113578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1536172" y="194144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Rectangle 1"/>
          <p:cNvSpPr>
            <a:spLocks noChangeArrowheads="1"/>
          </p:cNvSpPr>
          <p:nvPr/>
        </p:nvSpPr>
        <p:spPr bwMode="auto">
          <a:xfrm>
            <a:off x="675957" y="1421179"/>
            <a:ext cx="1072998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Project:</a:t>
            </a:r>
            <a:r>
              <a:rPr kumimoji="0" lang="en-US" sz="1800" b="0" i="0" u="none" strike="noStrike" cap="none" normalizeH="0" baseline="0" dirty="0" smtClean="0">
                <a:ln>
                  <a:noFill/>
                </a:ln>
                <a:solidFill>
                  <a:schemeClr val="tx1"/>
                </a:solidFill>
                <a:effectLst/>
                <a:latin typeface="Arial" panose="020B0604020202020204" pitchFamily="34" charset="0"/>
              </a:rPr>
              <a:t> Seasonal Agriculture Performance Analysis</a:t>
            </a:r>
          </a:p>
          <a:p>
            <a:pPr marL="0" marR="0" lvl="0" indent="0" algn="l" defTabSz="914400" rtl="0" eaLnBrk="0" fontAlgn="base" latinLnBrk="0" hangingPunct="0">
              <a:lnSpc>
                <a:spcPct val="100000"/>
              </a:lnSpc>
              <a:spcBef>
                <a:spcPct val="0"/>
              </a:spcBef>
              <a:spcAft>
                <a:spcPct val="0"/>
              </a:spcAft>
              <a:buClrTx/>
              <a:buSzTx/>
              <a:buFontTx/>
              <a:buNone/>
              <a:tabLst/>
            </a:pPr>
            <a:endParaRPr 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kumimoji="0" lang="en-US" sz="1800" b="1" i="0" u="none" strike="noStrike" cap="none" normalizeH="0" baseline="0" dirty="0" smtClean="0">
                <a:ln>
                  <a:noFill/>
                </a:ln>
                <a:solidFill>
                  <a:schemeClr val="tx1"/>
                </a:solidFill>
                <a:effectLst/>
                <a:latin typeface="Arial" panose="020B0604020202020204" pitchFamily="34" charset="0"/>
              </a:rPr>
              <a:t>Repository:</a:t>
            </a:r>
            <a:r>
              <a:rPr lang="en-US" dirty="0" smtClean="0">
                <a:latin typeface="Arial" panose="020B0604020202020204" pitchFamily="34" charset="0"/>
              </a:rPr>
              <a:t> </a:t>
            </a:r>
            <a:r>
              <a:rPr lang="en-US" sz="1600" dirty="0" smtClean="0">
                <a:latin typeface="Arial" panose="020B0604020202020204" pitchFamily="34" charset="0"/>
                <a:hlinkClick r:id="rId3"/>
              </a:rPr>
              <a:t>https</a:t>
            </a:r>
            <a:r>
              <a:rPr lang="en-US" sz="1600" dirty="0">
                <a:latin typeface="Arial" panose="020B0604020202020204" pitchFamily="34" charset="0"/>
                <a:hlinkClick r:id="rId3"/>
              </a:rPr>
              <a:t>://github.com/mansi-analytics/seasonal-agriculture-performance-analysis</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592" y="1484536"/>
            <a:ext cx="8002117" cy="518042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endParaRPr lang="en-US" sz="4800" b="1" dirty="0">
              <a:solidFill>
                <a:schemeClr val="tx1"/>
              </a:solidFill>
            </a:endParaRP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2000" cy="6908177"/>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693</TotalTime>
  <Words>596</Words>
  <Application>Microsoft Office PowerPoint</Application>
  <PresentationFormat>Widescreen</PresentationFormat>
  <Paragraphs>84</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 Agricultural Performance Analysis </vt:lpstr>
      <vt:lpstr>PROBLEM  STATEMENT</vt:lpstr>
      <vt:lpstr>Project Description .   </vt:lpstr>
      <vt:lpstr>WHO ARE THE END USERS?</vt:lpstr>
      <vt:lpstr>Technology Used</vt:lpstr>
      <vt:lpstr>RESULTS </vt:lpstr>
      <vt:lpstr>RESULTS </vt:lpstr>
      <vt:lpstr>RESULTS </vt:lpstr>
      <vt:lpstr>RESULTS </vt:lpstr>
      <vt:lpstr>RESULTS </vt:lpstr>
      <vt:lpstr>RESULTS </vt:lpstr>
      <vt:lpstr>RESULTS </vt:lpstr>
      <vt:lpstr>RESULTS </vt:lpstr>
      <vt:lpstr>Project Checklist   ✓ Dataset loaded successfully ✓ Top 5 rows analyzed ✓ Dataset shape and structure examined ✓ Data types examined ✓ Missing values identified and handled ✓ Duplicate records identified and handled ✓ Descriptive/statistical analysis performed ✓ Outliers investigated ✓ Univariate analysis completed ✓ Bivariate analysis completed ✓ Multivariate analysis completed ✓ Correlation analysis completed ✓ Seasonal comparisons performed ✓ At least 3 student-designed analyses completed ✓ Evidence-based recommendations provided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Microsoft account</cp:lastModifiedBy>
  <cp:revision>110</cp:revision>
  <dcterms:created xsi:type="dcterms:W3CDTF">2021-07-11T13:13:15Z</dcterms:created>
  <dcterms:modified xsi:type="dcterms:W3CDTF">2026-09-06T17:10:19Z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